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120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2AEE4-5BF0-DD12-08D4-5BBBB9764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89432-0835-2DFB-A3FE-8466CAF1E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A6500-4DF5-604E-D8FA-C43F2D06A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1F9A9-E7A8-4254-DED2-A3C37FA217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20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1A4A38">
              <a:alpha val="60000"/>
            </a:srgbClr>
          </a:solidFill>
          <a:ln w="12700">
            <a:solidFill>
              <a:srgbClr val="1A4A3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6400800" y="-731520"/>
            <a:ext cx="3474720" cy="3474720"/>
          </a:xfrm>
          <a:prstGeom prst="ellipse">
            <a:avLst/>
          </a:prstGeom>
          <a:solidFill>
            <a:srgbClr val="1D9E75">
              <a:alpha val="25000"/>
            </a:srgbClr>
          </a:solidFill>
          <a:ln w="12700">
            <a:solidFill>
              <a:srgbClr val="1D9E7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5720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50292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D9E75">
              <a:alpha val="80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411480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8D5B5"/>
                </a:solidFill>
              </a:rPr>
              <a:t>LOCATION INTELLIGENCE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11480" y="960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BizLocate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411480" y="180136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ideal location.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11480" y="29718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analysis of rent trends, demographics,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A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accessibility — all in one intelligent dashboard.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4160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1A4A38"/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42793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5528" y="4224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Location Engine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560320" y="4160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1A4A38"/>
          </a:solidFill>
          <a:ln w="12700">
            <a:solidFill>
              <a:srgbClr val="378AD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427939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44368" y="4224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Financial Forecaster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09160" y="4160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1A4A38"/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427939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93208" y="4224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Demographic Mapping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858000" y="4160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1A4A38"/>
          </a:solidFill>
          <a:ln w="12700">
            <a:solidFill>
              <a:srgbClr val="BA751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4279392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42048" y="4224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Accessibility Score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38"/>
          </a:solidFill>
          <a:ln w="12700">
            <a:solidFill>
              <a:srgbClr val="1A4A3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8D5B5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7A5E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51760" cy="640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24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businesses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within 5 years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location is a leading factor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640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200400" y="1234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Rs.50L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200400" y="2286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location choice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3108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relocation and lost revenue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6035040" y="1005840"/>
            <a:ext cx="265176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035040" y="1234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mos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035040" y="22860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time spent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a space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3108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to minutes with BizLocator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590288"/>
            <a:ext cx="9144000" cy="548640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57200" y="45902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4A38"/>
                </a:solidFill>
              </a:rPr>
              <a:t>BizLocator replaces guesswork with data-driven location intelligence — in minutes, not months.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5B5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4-Step Guided Setup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</a:rPr>
              <a:t>A clean onboarding flow that captures everything the engine needs to work.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1965960" cy="2560320"/>
          </a:xfrm>
          <a:prstGeom prst="rect">
            <a:avLst/>
          </a:prstGeom>
          <a:solidFill>
            <a:srgbClr val="E1F5EE"/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033272" y="2148840"/>
            <a:ext cx="640080" cy="64008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103327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</a:rPr>
              <a:t>Business Profile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4290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Type of business &amp; product price points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59152" y="3310128"/>
            <a:ext cx="10972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2496312" y="2011680"/>
            <a:ext cx="1965960" cy="2560320"/>
          </a:xfrm>
          <a:prstGeom prst="rect">
            <a:avLst/>
          </a:prstGeom>
          <a:solidFill>
            <a:srgbClr val="E6F1FB"/>
          </a:solidFill>
          <a:ln w="12700">
            <a:solidFill>
              <a:srgbClr val="378AD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3163824" y="2148840"/>
            <a:ext cx="640080" cy="640080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3163824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96312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78ADD"/>
                </a:solidFill>
              </a:rPr>
              <a:t>Financials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96312" y="34290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Maximum monthly rent budget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9704" y="3310128"/>
            <a:ext cx="10972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626864" y="2011680"/>
            <a:ext cx="1965960" cy="2560320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5294376" y="2148840"/>
            <a:ext cx="640080" cy="64008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529437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26864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A7517"/>
                </a:solidFill>
              </a:rPr>
              <a:t>Logistics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26864" y="34290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Square footage &amp; area requirements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0256" y="3310128"/>
            <a:ext cx="10972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dash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6757416" y="2011680"/>
            <a:ext cx="1965960" cy="2560320"/>
          </a:xfrm>
          <a:prstGeom prst="rect">
            <a:avLst/>
          </a:prstGeom>
          <a:solidFill>
            <a:srgbClr val="FBEAF0"/>
          </a:solidFill>
          <a:ln w="12700">
            <a:solidFill>
              <a:srgbClr val="99335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7424928" y="2148840"/>
            <a:ext cx="640080" cy="640080"/>
          </a:xfrm>
          <a:prstGeom prst="ellipse">
            <a:avLst/>
          </a:prstGeom>
          <a:solidFill>
            <a:srgbClr val="993356"/>
          </a:solidFill>
          <a:ln w="12700">
            <a:solidFill>
              <a:srgbClr val="99335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742492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57416" y="29260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3356"/>
                </a:solidFill>
              </a:rPr>
              <a:t>Geography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57416" y="34290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Preferred city: Karachi, Lahore, Islamabad, Peshawar…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663440"/>
            <a:ext cx="8412480" cy="73152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365760" y="4663440"/>
            <a:ext cx="210312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36576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Step 1 of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4A38"/>
          </a:solidFill>
          <a:ln w="12700">
            <a:solidFill>
              <a:srgbClr val="1A4A3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228600" y="4572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RECOMMEN-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DATION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2834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BFA3"/>
                </a:solidFill>
              </a:rPr>
              <a:t>Maps business type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BFA3"/>
                </a:solidFill>
              </a:rPr>
              <a:t>to optimal zone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BFA3"/>
                </a:solidFill>
              </a:rPr>
              <a:t>characteristics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BFA3"/>
                </a:solidFill>
              </a:rPr>
              <a:t>not just geography.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7A5E"/>
                </a:solidFill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20440" y="22860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703320" y="411480"/>
            <a:ext cx="548640" cy="548640"/>
          </a:xfrm>
          <a:prstGeom prst="ellipse">
            <a:avLst/>
          </a:prstGeom>
          <a:solidFill>
            <a:srgbClr val="1A4A38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47548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43400" y="4846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</a:rPr>
              <a:t>Chai Dhaba / Café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703320" y="1097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High foot-traffic near universities, bazaars &amp; DHA commercial strips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22860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6446520" y="411480"/>
            <a:ext cx="548640" cy="548640"/>
          </a:xfrm>
          <a:prstGeom prst="ellipse">
            <a:avLst/>
          </a:prstGeom>
          <a:solidFill>
            <a:srgbClr val="0C3468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7548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4846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8ADD"/>
                </a:solidFill>
              </a:rPr>
              <a:t>IT / Tech Office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46520" y="1097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Tech hubs like Johar Town, Blue Area &amp; Gulberg with fibre &amp; talent access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520440" y="265176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3"/>
          <p:cNvSpPr/>
          <p:nvPr/>
        </p:nvSpPr>
        <p:spPr>
          <a:xfrm>
            <a:off x="3703320" y="2834640"/>
            <a:ext cx="548640" cy="548640"/>
          </a:xfrm>
          <a:prstGeom prst="ellipse">
            <a:avLst/>
          </a:prstGeom>
          <a:solidFill>
            <a:srgbClr val="5C3506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8" y="289864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29077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A7517"/>
                </a:solidFill>
              </a:rPr>
              <a:t>Boutique / Fashion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703320" y="3520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Upscale areas like Zamzama, MM Alam Road &amp; Centaurus Mall vicinity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63640" y="265176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6446520" y="2834640"/>
            <a:ext cx="548640" cy="548640"/>
          </a:xfrm>
          <a:prstGeom prst="ellipse">
            <a:avLst/>
          </a:prstGeom>
          <a:solidFill>
            <a:srgbClr val="4B1528"/>
          </a:solidFill>
          <a:ln w="12700">
            <a:solidFill>
              <a:srgbClr val="99335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2898648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86600" y="290779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3356"/>
                </a:solidFill>
              </a:rPr>
              <a:t>Retail Store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446520" y="3520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Near residential Areas with large parking spaces.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FINANCIAL FORECASTER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5B5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 Intelligence at a Glance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Current rents, predicted trends, and budget comparison — in one view.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Current Avg. Rent</a:t>
            </a:r>
            <a:r>
              <a:rPr lang="en-US" sz="1200" b="1" dirty="0">
                <a:solidFill>
                  <a:srgbClr val="378ADD"/>
                </a:solidFill>
              </a:rPr>
              <a:t>  Rs.1.45L/mo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1993392"/>
            <a:ext cx="3291840" cy="310896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2743200" y="1993392"/>
            <a:ext cx="2238451" cy="31089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Predicted (12 mo.)</a:t>
            </a:r>
            <a:r>
              <a:rPr lang="en-US" sz="1200" b="1" dirty="0">
                <a:solidFill>
                  <a:srgbClr val="EF9F27"/>
                </a:solidFill>
              </a:rPr>
              <a:t>  Rs.1.62L/mo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2679192"/>
            <a:ext cx="3291840" cy="310896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2743200" y="2679192"/>
            <a:ext cx="2468880" cy="31089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Your Budget</a:t>
            </a:r>
            <a:r>
              <a:rPr lang="en-US" sz="1200" b="1" dirty="0">
                <a:solidFill>
                  <a:srgbClr val="1D9E75"/>
                </a:solidFill>
              </a:rPr>
              <a:t>  Rs.1.75L/mo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3364992"/>
            <a:ext cx="3291840" cy="310896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2743200" y="3364992"/>
            <a:ext cx="2633472" cy="31089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5669280" y="1920240"/>
            <a:ext cx="3108960" cy="1234440"/>
          </a:xfrm>
          <a:prstGeom prst="rect">
            <a:avLst/>
          </a:prstGeom>
          <a:solidFill>
            <a:srgbClr val="EAF3DE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5669280" y="1920240"/>
            <a:ext cx="73152" cy="12344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84832"/>
            <a:ext cx="347472" cy="3474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217920" y="2057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6D11"/>
                </a:solidFill>
              </a:rPr>
              <a:t>Budget comfortable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1792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6D11"/>
                </a:solidFill>
              </a:rPr>
              <a:t>Rs.13,000/mo headroom vs. predicted peak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69280" y="3383280"/>
            <a:ext cx="3108960" cy="1234440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5669280" y="3383280"/>
            <a:ext cx="73152" cy="123444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547872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17920" y="3520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4F0B"/>
                </a:solidFill>
              </a:rPr>
              <a:t>Rising market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217920" y="39136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4F0B"/>
                </a:solidFill>
              </a:rPr>
              <a:t>+11.7% rent growth predicted in this area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DA6"/>
                </a:solidFill>
              </a:rPr>
              <a:t>Prediction model: Linear regression on historical area/sector price trends in Pakistani cities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38"/>
          </a:solidFill>
          <a:ln w="12700">
            <a:solidFill>
              <a:srgbClr val="1A4A3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8D5B5"/>
                </a:solidFill>
              </a:rPr>
              <a:t>ACCESSIBILITY &amp; DEMOGRAPHICS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7A5E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 Score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490472"/>
            <a:ext cx="347472" cy="34747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52704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Public Transit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48840" y="1572768"/>
            <a:ext cx="2011680" cy="201168"/>
          </a:xfrm>
          <a:prstGeom prst="rect">
            <a:avLst/>
          </a:prstGeom>
          <a:solidFill>
            <a:srgbClr val="D1E8DA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2148840" y="1572768"/>
            <a:ext cx="1649578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4251960" y="1508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</a:rPr>
              <a:t>82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450592"/>
            <a:ext cx="347472" cy="34747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487168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4672" y="2468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Parking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148840" y="2532888"/>
            <a:ext cx="2011680" cy="201168"/>
          </a:xfrm>
          <a:prstGeom prst="rect">
            <a:avLst/>
          </a:prstGeom>
          <a:solidFill>
            <a:srgbClr val="D1E8DA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2"/>
          <p:cNvSpPr/>
          <p:nvPr/>
        </p:nvSpPr>
        <p:spPr>
          <a:xfrm>
            <a:off x="2148840" y="2532888"/>
            <a:ext cx="1106424" cy="20116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3"/>
          <p:cNvSpPr/>
          <p:nvPr/>
        </p:nvSpPr>
        <p:spPr>
          <a:xfrm>
            <a:off x="4251960" y="24688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9F27"/>
                </a:solidFill>
              </a:rPr>
              <a:t>55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65760" y="3410712"/>
            <a:ext cx="347472" cy="34747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447288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4672" y="3429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Walkability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2148840" y="3493008"/>
            <a:ext cx="2011680" cy="201168"/>
          </a:xfrm>
          <a:prstGeom prst="rect">
            <a:avLst/>
          </a:prstGeom>
          <a:solidFill>
            <a:srgbClr val="D1E8DA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2148840" y="3493008"/>
            <a:ext cx="1830629" cy="2011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18"/>
          <p:cNvSpPr/>
          <p:nvPr/>
        </p:nvSpPr>
        <p:spPr>
          <a:xfrm>
            <a:off x="4251960" y="3429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8ADD"/>
                </a:solidFill>
              </a:rPr>
              <a:t>91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663440" y="960120"/>
            <a:ext cx="0" cy="3840480"/>
          </a:xfrm>
          <a:prstGeom prst="line">
            <a:avLst/>
          </a:prstGeom>
          <a:noFill/>
          <a:ln w="12700">
            <a:solidFill>
              <a:srgbClr val="C8DDD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0"/>
          <p:cNvSpPr/>
          <p:nvPr/>
        </p:nvSpPr>
        <p:spPr>
          <a:xfrm>
            <a:off x="489204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 Match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4892040" y="150876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2"/>
          <p:cNvSpPr/>
          <p:nvPr/>
        </p:nvSpPr>
        <p:spPr>
          <a:xfrm>
            <a:off x="5029200" y="1508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Dominant age group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949440" y="1508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9E75"/>
                </a:solidFill>
              </a:rPr>
              <a:t>20–35 yrs (52%)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4892040" y="216712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5"/>
          <p:cNvSpPr/>
          <p:nvPr/>
        </p:nvSpPr>
        <p:spPr>
          <a:xfrm>
            <a:off x="5029200" y="21671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Median household income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949440" y="21671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78ADD"/>
                </a:solidFill>
              </a:rPr>
              <a:t>Rs.85,000 / mo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92040" y="2825496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28"/>
          <p:cNvSpPr/>
          <p:nvPr/>
        </p:nvSpPr>
        <p:spPr>
          <a:xfrm>
            <a:off x="5029200" y="28254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Top interests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949440" y="282549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A7517"/>
                </a:solidFill>
              </a:rPr>
              <a:t>Shopping · Food · Family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892040" y="3483864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1"/>
          <p:cNvSpPr/>
          <p:nvPr/>
        </p:nvSpPr>
        <p:spPr>
          <a:xfrm>
            <a:off x="5029200" y="34838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Homeownership rate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6949440" y="348386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9E75"/>
                </a:solidFill>
              </a:rPr>
              <a:t>58%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4892040" y="4142232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4"/>
          <p:cNvSpPr/>
          <p:nvPr/>
        </p:nvSpPr>
        <p:spPr>
          <a:xfrm>
            <a:off x="5029200" y="41422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Daytime population density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949440" y="41422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78ADD"/>
                </a:solidFill>
              </a:rPr>
              <a:t>High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</a:rPr>
              <a:t>PROS &amp; CONS INDICATORS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D5B5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4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/ Yellow / Red at a Glance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Every location gets a visual signal set — so decisions are instant and scannable.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51760" cy="2880360"/>
          </a:xfrm>
          <a:prstGeom prst="rect">
            <a:avLst/>
          </a:prstGeom>
          <a:solidFill>
            <a:srgbClr val="EAF3DE"/>
          </a:solidFill>
          <a:ln w="12700">
            <a:solidFill>
              <a:srgbClr val="63992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65176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325880" y="2011680"/>
            <a:ext cx="731520" cy="7315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10312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6D11"/>
                </a:solidFill>
              </a:rPr>
              <a:t>Strong Match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" y="3364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— </a:t>
            </a:r>
            <a:r>
              <a:rPr lang="en-US" sz="1100" dirty="0">
                <a:solidFill>
                  <a:srgbClr val="3B6D11"/>
                </a:solidFill>
              </a:rPr>
              <a:t>Rent comfortably within budget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" y="3685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— </a:t>
            </a:r>
            <a:r>
              <a:rPr lang="en-US" sz="1100" dirty="0">
                <a:solidFill>
                  <a:srgbClr val="3B6D11"/>
                </a:solidFill>
              </a:rPr>
              <a:t>High walkability score (90+)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" y="4005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— </a:t>
            </a:r>
            <a:r>
              <a:rPr lang="en-US" sz="1100" dirty="0">
                <a:solidFill>
                  <a:srgbClr val="3B6D11"/>
                </a:solidFill>
              </a:rPr>
              <a:t>Target demographics present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" y="43251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</a:rPr>
              <a:t>— </a:t>
            </a:r>
            <a:r>
              <a:rPr lang="en-US" sz="1100" dirty="0">
                <a:solidFill>
                  <a:srgbClr val="3B6D11"/>
                </a:solidFill>
              </a:rPr>
              <a:t>Low market vacancy rate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00400" y="1920240"/>
            <a:ext cx="2651760" cy="2880360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3200400" y="1920240"/>
            <a:ext cx="2651760" cy="640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5"/>
          <p:cNvSpPr/>
          <p:nvPr/>
        </p:nvSpPr>
        <p:spPr>
          <a:xfrm>
            <a:off x="4160520" y="2011680"/>
            <a:ext cx="731520" cy="73152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103120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20040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54F0B"/>
                </a:solidFill>
              </a:rPr>
              <a:t>Moderate Risk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364992" y="3364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</a:rPr>
              <a:t>— </a:t>
            </a:r>
            <a:r>
              <a:rPr lang="en-US" sz="1100" dirty="0">
                <a:solidFill>
                  <a:srgbClr val="854F0B"/>
                </a:solidFill>
              </a:rPr>
              <a:t>Rising rent trend detected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364992" y="3685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</a:rPr>
              <a:t>— </a:t>
            </a:r>
            <a:r>
              <a:rPr lang="en-US" sz="1100" dirty="0">
                <a:solidFill>
                  <a:srgbClr val="854F0B"/>
                </a:solidFill>
              </a:rPr>
              <a:t>Limited parking availability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364992" y="4005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</a:rPr>
              <a:t>— </a:t>
            </a:r>
            <a:r>
              <a:rPr lang="en-US" sz="1100" dirty="0">
                <a:solidFill>
                  <a:srgbClr val="854F0B"/>
                </a:solidFill>
              </a:rPr>
              <a:t>Partial demographic overlap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364992" y="43251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F27"/>
                </a:solidFill>
              </a:rPr>
              <a:t>— </a:t>
            </a:r>
            <a:r>
              <a:rPr lang="en-US" sz="1100" dirty="0">
                <a:solidFill>
                  <a:srgbClr val="854F0B"/>
                </a:solidFill>
              </a:rPr>
              <a:t>Above-average competition density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035040" y="1920240"/>
            <a:ext cx="2651760" cy="2880360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2"/>
          <p:cNvSpPr/>
          <p:nvPr/>
        </p:nvSpPr>
        <p:spPr>
          <a:xfrm>
            <a:off x="6035040" y="1920240"/>
            <a:ext cx="2651760" cy="640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3"/>
          <p:cNvSpPr/>
          <p:nvPr/>
        </p:nvSpPr>
        <p:spPr>
          <a:xfrm>
            <a:off x="6995160" y="2011680"/>
            <a:ext cx="731520" cy="731520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103120"/>
            <a:ext cx="548640" cy="5486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03504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32D2D"/>
                </a:solidFill>
              </a:rPr>
              <a:t>Poor Fit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199632" y="3364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</a:rPr>
              <a:t>— </a:t>
            </a:r>
            <a:r>
              <a:rPr lang="en-US" sz="1100" dirty="0">
                <a:solidFill>
                  <a:srgbClr val="A32D2D"/>
                </a:solidFill>
              </a:rPr>
              <a:t>Rent exceeds max budget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199632" y="36850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</a:rPr>
              <a:t>— </a:t>
            </a:r>
            <a:r>
              <a:rPr lang="en-US" sz="1100" dirty="0">
                <a:solidFill>
                  <a:srgbClr val="A32D2D"/>
                </a:solidFill>
              </a:rPr>
              <a:t>Low foot traffic zone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199632" y="4005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</a:rPr>
              <a:t>— </a:t>
            </a:r>
            <a:r>
              <a:rPr lang="en-US" sz="1100" dirty="0">
                <a:solidFill>
                  <a:srgbClr val="A32D2D"/>
                </a:solidFill>
              </a:rPr>
              <a:t>Demographic mismatch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199632" y="43251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4B4A"/>
                </a:solidFill>
              </a:rPr>
              <a:t>— </a:t>
            </a:r>
            <a:r>
              <a:rPr lang="en-US" sz="1100" dirty="0">
                <a:solidFill>
                  <a:srgbClr val="A32D2D"/>
                </a:solidFill>
              </a:rPr>
              <a:t>Transit access below threshold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A4A38">
              <a:alpha val="50000"/>
            </a:srgbClr>
          </a:solidFill>
          <a:ln w="12700">
            <a:solidFill>
              <a:srgbClr val="1A4A3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8D5B5"/>
                </a:solidFill>
              </a:rPr>
              <a:t>SUITABILITY SCORE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Number. Full Picture.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046720" y="320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7A5E"/>
                </a:solidFill>
              </a:rPr>
              <a:t>08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2194560" cy="2194560"/>
          </a:xfrm>
          <a:prstGeom prst="ellipse">
            <a:avLst/>
          </a:prstGeom>
          <a:solidFill>
            <a:srgbClr val="1A4A38"/>
          </a:solidFill>
          <a:ln w="508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BFA3"/>
                </a:solidFill>
              </a:rPr>
              <a:t>out of 100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D9E75"/>
                </a:solidFill>
              </a:rPr>
              <a:t>STRONG FIT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BFA3"/>
                </a:solidFill>
              </a:rPr>
              <a:t>Score Breakdown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2103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5B5"/>
                </a:solidFill>
              </a:rPr>
              <a:t>Rent Affordability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17520" y="2514600"/>
            <a:ext cx="5029200" cy="256032"/>
          </a:xfrm>
          <a:prstGeom prst="rect">
            <a:avLst/>
          </a:prstGeom>
          <a:solidFill>
            <a:srgbClr val="1A4A38"/>
          </a:solidFill>
          <a:ln w="12700">
            <a:solidFill>
              <a:srgbClr val="1A4A3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017520" y="2514600"/>
            <a:ext cx="4526280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8183880" y="24505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</a:rPr>
              <a:t>90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017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5B5"/>
                </a:solidFill>
              </a:rPr>
              <a:t>Demographics Match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17520" y="3429000"/>
            <a:ext cx="5029200" cy="256032"/>
          </a:xfrm>
          <a:prstGeom prst="rect">
            <a:avLst/>
          </a:prstGeom>
          <a:solidFill>
            <a:srgbClr val="1A4A38"/>
          </a:solidFill>
          <a:ln w="12700">
            <a:solidFill>
              <a:srgbClr val="1A4A3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3017520" y="3429000"/>
            <a:ext cx="4224528" cy="2560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8183880" y="33649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8ADD"/>
                </a:solidFill>
              </a:rPr>
              <a:t>84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931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5B5"/>
                </a:solidFill>
              </a:rPr>
              <a:t>Accessibility Score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17520" y="4343400"/>
            <a:ext cx="5029200" cy="256032"/>
          </a:xfrm>
          <a:prstGeom prst="rect">
            <a:avLst/>
          </a:prstGeom>
          <a:solidFill>
            <a:srgbClr val="1A4A38"/>
          </a:solidFill>
          <a:ln w="12700">
            <a:solidFill>
              <a:srgbClr val="1A4A3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3017520" y="4343400"/>
            <a:ext cx="3822192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8183880" y="42793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9F27"/>
                </a:solidFill>
              </a:rPr>
              <a:t>76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17520" y="46634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D7A5E"/>
                </a:solidFill>
              </a:rPr>
              <a:t>Score = weighted composite of Rent Affordability (40%) · Demographics (35%) · Accessibility (25%)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A38"/>
          </a:solidFill>
          <a:ln w="12700">
            <a:solidFill>
              <a:srgbClr val="1A4A3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8D5B5"/>
                </a:solidFill>
              </a:rPr>
              <a:t>OUR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D7A5E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27871"/>
            <a:ext cx="8229600" cy="11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“The difference between a thriving business and a failed one is often just thirty feet in the wrong direction”</a:t>
            </a:r>
            <a:endParaRPr lang="en-US" sz="2400" dirty="0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0948" y="3584035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Georgia" panose="02040502050405020303" pitchFamily="18" charset="0"/>
              </a:rPr>
              <a:t>- The </a:t>
            </a:r>
            <a:r>
              <a:rPr lang="en-US" sz="1600" dirty="0" err="1">
                <a:latin typeface="Georgia" panose="02040502050405020303" pitchFamily="18" charset="0"/>
              </a:rPr>
              <a:t>Bizlo</a:t>
            </a:r>
            <a:r>
              <a:rPr lang="en-US" sz="1600" dirty="0">
                <a:latin typeface="Georgia" panose="02040502050405020303" pitchFamily="18" charset="0"/>
              </a:rPr>
              <a:t>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59DFF-E11C-B4E0-A0D2-A17ED90B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718492-E481-4CF1-293C-361DF80290DE}"/>
              </a:ext>
            </a:extLst>
          </p:cNvPr>
          <p:cNvSpPr/>
          <p:nvPr/>
        </p:nvSpPr>
        <p:spPr>
          <a:xfrm>
            <a:off x="4644189" y="1289098"/>
            <a:ext cx="5486400" cy="5486400"/>
          </a:xfrm>
          <a:prstGeom prst="ellipse">
            <a:avLst/>
          </a:prstGeom>
          <a:solidFill>
            <a:srgbClr val="1A4A38">
              <a:alpha val="45000"/>
            </a:srgbClr>
          </a:solidFill>
          <a:ln w="12700">
            <a:solidFill>
              <a:srgbClr val="1A4A3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92C0778-CA07-7EDF-B458-41B8409BA688}"/>
              </a:ext>
            </a:extLst>
          </p:cNvPr>
          <p:cNvSpPr/>
          <p:nvPr/>
        </p:nvSpPr>
        <p:spPr>
          <a:xfrm>
            <a:off x="5943600" y="2011680"/>
            <a:ext cx="3657600" cy="3657600"/>
          </a:xfrm>
          <a:prstGeom prst="ellipse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4B9E51-5853-701D-1E45-9B00A342A5F7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BEC86C-E8E4-38CA-1731-FA1C2874B193}"/>
              </a:ext>
            </a:extLst>
          </p:cNvPr>
          <p:cNvSpPr/>
          <p:nvPr/>
        </p:nvSpPr>
        <p:spPr>
          <a:xfrm>
            <a:off x="411480" y="640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8D5B5"/>
                </a:solidFill>
              </a:rPr>
              <a:t>READY TO BUILD?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48072D-AF1A-9BAB-1A83-1C1CD5F4EC39}"/>
              </a:ext>
            </a:extLst>
          </p:cNvPr>
          <p:cNvSpPr/>
          <p:nvPr/>
        </p:nvSpPr>
        <p:spPr>
          <a:xfrm>
            <a:off x="411480" y="10515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chemeClr val="bg1"/>
                </a:solidFill>
                <a:latin typeface="Georgia" panose="02040502050405020303" pitchFamily="18" charset="0"/>
              </a:rPr>
              <a:t>FUTURE IMPLEMENTATION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AF8CE7C-554B-CEF0-30D8-A98555153903}"/>
              </a:ext>
            </a:extLst>
          </p:cNvPr>
          <p:cNvSpPr/>
          <p:nvPr/>
        </p:nvSpPr>
        <p:spPr>
          <a:xfrm>
            <a:off x="411480" y="2971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BFA3"/>
                </a:solidFill>
              </a:rPr>
              <a:t>BizLocator gives every entrepreneur the data they need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BFA3"/>
                </a:solidFill>
              </a:rPr>
              <a:t>to make the most important real-estate decision of their business.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67CEA4E-90C4-7F30-A5F4-F6E76307B11A}"/>
              </a:ext>
            </a:extLst>
          </p:cNvPr>
          <p:cNvSpPr/>
          <p:nvPr/>
        </p:nvSpPr>
        <p:spPr>
          <a:xfrm>
            <a:off x="411480" y="3886200"/>
            <a:ext cx="0" cy="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A65DFA4-D351-D6E2-4FBA-5FBD6511E0D1}"/>
              </a:ext>
            </a:extLst>
          </p:cNvPr>
          <p:cNvSpPr/>
          <p:nvPr/>
        </p:nvSpPr>
        <p:spPr>
          <a:xfrm>
            <a:off x="411480" y="3886200"/>
            <a:ext cx="0" cy="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17AECCA-AA94-DD2D-5C13-5A97EA55CCD3}"/>
              </a:ext>
            </a:extLst>
          </p:cNvPr>
          <p:cNvSpPr/>
          <p:nvPr/>
        </p:nvSpPr>
        <p:spPr>
          <a:xfrm>
            <a:off x="411480" y="3886200"/>
            <a:ext cx="0" cy="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3ADA097-51A7-532A-E9A9-CF088268AEFB}"/>
              </a:ext>
            </a:extLst>
          </p:cNvPr>
          <p:cNvSpPr/>
          <p:nvPr/>
        </p:nvSpPr>
        <p:spPr>
          <a:xfrm>
            <a:off x="411480" y="3886200"/>
            <a:ext cx="0" cy="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F74502B-F72E-3554-5FA3-DFCE8E7EE480}"/>
              </a:ext>
            </a:extLst>
          </p:cNvPr>
          <p:cNvSpPr/>
          <p:nvPr/>
        </p:nvSpPr>
        <p:spPr>
          <a:xfrm>
            <a:off x="411480" y="3931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</a:rPr>
              <a:t>01 </a:t>
            </a:r>
            <a:r>
              <a:rPr lang="en-US" sz="1200" dirty="0">
                <a:solidFill>
                  <a:srgbClr val="A8D5B5"/>
                </a:solidFill>
              </a:rPr>
              <a:t>Define business type &amp; budget</a:t>
            </a:r>
            <a:r>
              <a:rPr lang="en-US" sz="1200" b="1" dirty="0">
                <a:solidFill>
                  <a:srgbClr val="378ADD"/>
                </a:solidFill>
              </a:rPr>
              <a:t>   02 </a:t>
            </a:r>
            <a:r>
              <a:rPr lang="en-US" sz="1200" dirty="0">
                <a:solidFill>
                  <a:srgbClr val="A8CAEE"/>
                </a:solidFill>
              </a:rPr>
              <a:t>Run the 4-step onboarding</a:t>
            </a:r>
            <a:r>
              <a:rPr lang="en-US" sz="1200" b="1" dirty="0">
                <a:solidFill>
                  <a:srgbClr val="EF9F27"/>
                </a:solidFill>
              </a:rPr>
              <a:t>   03 </a:t>
            </a:r>
            <a:r>
              <a:rPr lang="en-US" sz="1200" dirty="0">
                <a:solidFill>
                  <a:srgbClr val="F5D5A0"/>
                </a:solidFill>
              </a:rPr>
              <a:t>Review Suitability Scores</a:t>
            </a:r>
            <a:r>
              <a:rPr lang="en-US" sz="1200" b="1" dirty="0">
                <a:solidFill>
                  <a:srgbClr val="1D9E75"/>
                </a:solidFill>
              </a:rPr>
              <a:t>   04 </a:t>
            </a:r>
            <a:r>
              <a:rPr lang="en-US" sz="1200" dirty="0">
                <a:solidFill>
                  <a:srgbClr val="A8D5B5"/>
                </a:solidFill>
              </a:rPr>
              <a:t>Sign the right lease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19C65D9-6FAD-1A96-6380-B2254729E759}"/>
              </a:ext>
            </a:extLst>
          </p:cNvPr>
          <p:cNvSpPr/>
          <p:nvPr/>
        </p:nvSpPr>
        <p:spPr>
          <a:xfrm>
            <a:off x="41148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7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BizLocator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36559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1371600"/>
            <a:ext cx="5486400" cy="5486400"/>
          </a:xfrm>
          <a:prstGeom prst="ellipse">
            <a:avLst/>
          </a:prstGeom>
          <a:solidFill>
            <a:srgbClr val="1A4A38">
              <a:alpha val="45000"/>
            </a:srgbClr>
          </a:solidFill>
          <a:ln w="12700">
            <a:solidFill>
              <a:srgbClr val="1A4A3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5943600" y="2011680"/>
            <a:ext cx="3657600" cy="3657600"/>
          </a:xfrm>
          <a:prstGeom prst="ellipse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8D5B5"/>
                </a:solidFill>
              </a:rPr>
              <a:t>READY TO BUILD?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guessing.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locating.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2971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BFA3"/>
                </a:solidFill>
              </a:rPr>
              <a:t>BizLocator gives every entrepreneur the data they need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BFA3"/>
                </a:solidFill>
              </a:rPr>
              <a:t>to make the most important real-estate decision of their business.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886200"/>
            <a:ext cx="0" cy="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11480" y="3886200"/>
            <a:ext cx="0" cy="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411480" y="3886200"/>
            <a:ext cx="0" cy="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411480" y="3886200"/>
            <a:ext cx="0" cy="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11480" y="3931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</a:rPr>
              <a:t>01 </a:t>
            </a:r>
            <a:r>
              <a:rPr lang="en-US" sz="1200" dirty="0">
                <a:solidFill>
                  <a:srgbClr val="A8D5B5"/>
                </a:solidFill>
              </a:rPr>
              <a:t>Define business type &amp; budget</a:t>
            </a:r>
            <a:r>
              <a:rPr lang="en-US" sz="1200" b="1" dirty="0">
                <a:solidFill>
                  <a:srgbClr val="378ADD"/>
                </a:solidFill>
              </a:rPr>
              <a:t>   02 </a:t>
            </a:r>
            <a:r>
              <a:rPr lang="en-US" sz="1200" dirty="0">
                <a:solidFill>
                  <a:srgbClr val="A8CAEE"/>
                </a:solidFill>
              </a:rPr>
              <a:t>Run the 4-step onboarding</a:t>
            </a:r>
            <a:r>
              <a:rPr lang="en-US" sz="1200" b="1" dirty="0">
                <a:solidFill>
                  <a:srgbClr val="EF9F27"/>
                </a:solidFill>
              </a:rPr>
              <a:t>   03 </a:t>
            </a:r>
            <a:r>
              <a:rPr lang="en-US" sz="1200" dirty="0">
                <a:solidFill>
                  <a:srgbClr val="F5D5A0"/>
                </a:solidFill>
              </a:rPr>
              <a:t>Review Suitability Scores</a:t>
            </a:r>
            <a:r>
              <a:rPr lang="en-US" sz="1200" b="1" dirty="0">
                <a:solidFill>
                  <a:srgbClr val="1D9E75"/>
                </a:solidFill>
              </a:rPr>
              <a:t>   04 </a:t>
            </a:r>
            <a:r>
              <a:rPr lang="en-US" sz="1200" dirty="0">
                <a:solidFill>
                  <a:srgbClr val="A8D5B5"/>
                </a:solidFill>
              </a:rPr>
              <a:t>Sign the right lease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7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BizLocator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632</Words>
  <Application>Microsoft Office PowerPoint</Application>
  <PresentationFormat>On-screen Show (16:9)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BizLocator – Business Location Intelligence</dc:title>
  <dc:subject>PptxGenJS Presentation</dc:subject>
  <dc:creator>BizLocator</dc:creator>
  <cp:lastModifiedBy>Javeria Barg</cp:lastModifiedBy>
  <cp:revision>2</cp:revision>
  <dcterms:created xsi:type="dcterms:W3CDTF">2026-05-10T07:55:31Z</dcterms:created>
  <dcterms:modified xsi:type="dcterms:W3CDTF">2026-05-10T08:57:08Z</dcterms:modified>
</cp:coreProperties>
</file>